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Georgia"/>
              </a:rPr>
              <a:t>RMSE — lower is better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on 2022 fold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lgb huber + weights</c:v>
                  </c:pt>
                  <c:pt idx="1">
                    <c:v>archetype shrunk mean</c:v>
                  </c:pt>
                  <c:pt idx="2">
                    <c:v>archetype mean</c:v>
                  </c:pt>
                  <c:pt idx="3">
                    <c:v>dummy_mean (clipped)</c:v>
                  </c:pt>
                  <c:pt idx="4">
                    <c:v>dummy_median</c:v>
                  </c:pt>
                  <c:pt idx="5">
                    <c:v>HGB control (mse)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64.71</c:v>
                </c:pt>
                <c:pt idx="1">
                  <c:v>64.77</c:v>
                </c:pt>
                <c:pt idx="2">
                  <c:v>64.81</c:v>
                </c:pt>
                <c:pt idx="3">
                  <c:v>64.88</c:v>
                </c:pt>
                <c:pt idx="4">
                  <c:v>65.35</c:v>
                </c:pt>
                <c:pt idx="5">
                  <c:v>68.22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5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9"/>
          <c:min val="64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1-Year US Stock Returns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SEC-filing Fundamentals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3886200"/>
            <a:ext cx="1097280" cy="0"/>
          </a:xfrm>
          <a:prstGeom prst="line">
            <a:avLst/>
          </a:prstGeom>
          <a:noFill/>
          <a:ln w="381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walkthrough · data prep, validation, first submission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Aachen Investment Club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competition in one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predict
</a:t>
            </a:r>
            <a:pPr indent="0" marL="0">
              <a:buNone/>
            </a:pPr>
            <a:r>
              <a:rPr lang="en-US" sz="14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company × quarter snapshot, the next 1-year stock return in percent.
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
</a:t>
            </a:r>
            <a:pPr indent="0" marL="0">
              <a:buNone/>
            </a:pPr>
            <a:r>
              <a:rPr lang="en-US" sz="14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Train: 2019-2022, 23,070 rows, real tickers (AAPL, NVDA, ...)
</a:t>
            </a:r>
            <a:pPr indent="0" marL="0">
              <a:buNone/>
            </a:pPr>
            <a:r>
              <a:rPr lang="en-US" sz="14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Test: 2024, 8,520 rows, anonymised IDs (stock_0820, ...)
</a:t>
            </a:r>
            <a:pPr indent="0" marL="0">
              <a:buNone/>
            </a:pPr>
            <a:r>
              <a:rPr lang="en-US" sz="14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 raw features: valuation, profitability, growth, balance sheet, dividends
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
</a:t>
            </a:r>
            <a:pPr indent="0" marL="0">
              <a:buNone/>
            </a:pPr>
            <a:r>
              <a:rPr lang="en-US" sz="14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punishes large misses quadratically.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0" y="1508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23,070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80960" y="2130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rows · 4 years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28346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2926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8,520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680960" y="35478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· all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42519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4343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cross-sectional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680960" y="4965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stocks at each date, not the market index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The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prediction-window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row's forward return realises by 2023-12-31.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forward window runs 2024-2025 — entirely outside training-label coverage.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491778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15283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obs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59874" y="2651760"/>
            <a:ext cx="1491778" cy="365760"/>
          </a:xfrm>
          <a:prstGeom prst="rect">
            <a:avLst/>
          </a:prstGeom>
          <a:solidFill>
            <a:srgbClr val="2E3D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59874" y="2286000"/>
            <a:ext cx="15283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obs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88229" y="2651760"/>
            <a:ext cx="1491778" cy="365760"/>
          </a:xfrm>
          <a:prstGeom prst="rect">
            <a:avLst/>
          </a:prstGeom>
          <a:solidFill>
            <a:srgbClr val="4A5B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8229" y="2286000"/>
            <a:ext cx="15283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obs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16583" y="2651760"/>
            <a:ext cx="1491778" cy="365760"/>
          </a:xfrm>
          <a:prstGeom prst="rect">
            <a:avLst/>
          </a:prstGeom>
          <a:solidFill>
            <a:srgbClr val="6A7B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6583" y="2286000"/>
            <a:ext cx="15283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obs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44937" y="2651760"/>
            <a:ext cx="1491778" cy="365760"/>
          </a:xfrm>
          <a:prstGeom prst="rect">
            <a:avLst/>
          </a:prstGeom>
          <a:solidFill>
            <a:srgbClr val="8B9AD0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764177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forward windows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73291" y="2651760"/>
            <a:ext cx="3020133" cy="365760"/>
          </a:xfrm>
          <a:prstGeom prst="rect">
            <a:avLst/>
          </a:prstGeom>
          <a:solidFill>
            <a:srgbClr val="F2A51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3291" y="3063240"/>
            <a:ext cx="30567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obs · test forward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0698480" cy="0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59874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85554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88229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3909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16583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2263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44937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0617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73291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8971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01646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27326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430000" y="3749040"/>
            <a:ext cx="0" cy="73152"/>
          </a:xfrm>
          <a:prstGeom prst="line">
            <a:avLst/>
          </a:prstGeom>
          <a:noFill/>
          <a:ln w="12700">
            <a:solidFill>
              <a:srgbClr val="5A62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0" y="3822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73291" y="4572000"/>
            <a:ext cx="30567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label here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" y="52120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266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 mean: +4%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" y="5669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crash + rebound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52120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E3D7F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5266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 mean: +74%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926080" y="5669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melt-up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74920" y="52120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5266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 mean: -10%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74920" y="5669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market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23760" y="52120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E3D7F"/>
          </a:solidFill>
          <a:ln/>
        </p:spPr>
      </p:sp>
      <p:sp>
        <p:nvSpPr>
          <p:cNvPr id="44" name="Text 42"/>
          <p:cNvSpPr/>
          <p:nvPr/>
        </p:nvSpPr>
        <p:spPr>
          <a:xfrm>
            <a:off x="7223760" y="5266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 mean: +12%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23760" y="5669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72600" y="52120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2A516"/>
          </a:solidFill>
          <a:ln/>
        </p:spPr>
      </p:sp>
      <p:sp>
        <p:nvSpPr>
          <p:cNvPr id="47" name="Text 45"/>
          <p:cNvSpPr/>
          <p:nvPr/>
        </p:nvSpPr>
        <p:spPr>
          <a:xfrm>
            <a:off x="9372600" y="5266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 mean: ?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372600" y="5669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regime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Core insight — train and test live in different return regimes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 — what we drop, what we add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period_start / period_end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39572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test.csv — using them in features crashes the test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72160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anonymised in test, 0 overlap with train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return_pct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50474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— separated explicitly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8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8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9516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start_year + years_since_2019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239572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date field present in both train and 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8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_is_missing flags (top 15 NA fields)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372160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has 5-10pp higher missingness than train — flags are signal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663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8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9516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 (KMeans cluster, k=8)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50474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profile, independent of sector_code (AMI = 0.075)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Data prep · all imputation, clipping, scaling fit on the train fold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— and the leakage we found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852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 holdout
</a:t>
            </a:r>
            <a:pPr indent="0" marL="0"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start_year &lt; 2022, validate on start_year == 2022.
</a:t>
            </a:r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forward window (2023) is the only stretch no earlier training row's label covers — the closest analog to the test situation.
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Expanding-window diagnostic
</a:t>
            </a:r>
            <a:pPr indent="0" marL="0"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(19→20), (19-20→21), (19-21→22) — stability check.
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clipping
</a:t>
            </a:r>
            <a:pPr indent="0" marL="0"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target clipped at 1st / 99th percentile of the train fold. Validation labels are never clipped.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0" y="128016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2A51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0" y="1371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93.5%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6766560" y="2468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validation tickers also appear in 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0" y="3017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tickers are 100% strangers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fold, two RMSE numbers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 seen in train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8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tickers (test analog)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0" y="4663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0" y="5120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Validation · report overall RMSE AND novel-ticker RMSE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archetypes — 8 clusters that aren't sectors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on size-invariant fundamentals (margins, ratios, growth, valuation, dividend yield). Adjusted Mutual Information vs sector_code = 0.075 — almost independent, so it adds new information.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3931920"/>
                <a:gridCol w="1097280"/>
                <a:gridCol w="118872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fingerprint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dividend payer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 NM, D/E 0.46, div yield 2.55%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loss-makers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-7% NM, declining YoY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SaaS / 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 GM, 32% OM, P/S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Capital-light compounders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 24% / ROTE 33%, P/B 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GARP growers (no dividend)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 3y growth, yield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Leveraged mature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D/E 1.94 (highest), CR &lt;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hyper-growth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 growth, P/S 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biotech / early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GM but -29% OM, P/S 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regime-dependent winners. Premium SaaS underperformed in every train year; speculative biotech swings ±100pp.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Archetypes · use as a categorical feature + cluster-relative z-scores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real model — robustness over flexibility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HGB baseline loses to dummy_mean on the 2022 fold (68.2 vs 64.9). The signal is fragile; the model has to be conservative. Three knobs: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Huber loss (α=100)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error inside ±100% returns; linear beyond. Stops a single +500% biotech row from dictating leaf splits.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1772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Year-weighted samples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= 0.48, 2020 = 0.97, 2021 = 1.45. The training signal tilts toward the regime closest to the 2024 test cohort.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archetype as categorical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246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puts each cluster in its own leaf without splitting on a continuous proxy. Native handling of cluster identity.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8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64.71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5687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fold RMSE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8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−0.17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74720" y="5687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dummy_mean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5687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iteration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961120" y="5687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pred std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Model · LightGBM with Huber, year weights, archetype categorical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scorecard on the 2022 holdout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2801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actually say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1783080"/>
            <a:ext cx="4206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wins by only 0.17 RMSE.
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improvement, but well within fold noise.
</a:t>
            </a:r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novel tickers it is slightly worse.
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66.05 vs 65.65 for dummy_mean — the model finds firm-identity patterns that don't generalise.
</a:t>
            </a:r>
            <a:pPr indent="0" marL="0">
              <a:buNone/>
            </a:pPr>
            <a:r>
              <a:rPr lang="en-US" sz="1300" b="1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squared error comes from 3 archetypes.
</a:t>
            </a:r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loss-makers (40%), premium SaaS (20%), mature dividend (18%). One model can't span them.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Results · submitted as lgb_huber_archetype_v1.csv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97280" cy="0"/>
          </a:xfrm>
          <a:prstGeom prst="line">
            <a:avLst/>
          </a:prstGeom>
          <a:noFill/>
          <a:ln w="3810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2024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2E3D7F"/>
          </a:solidFill>
          <a:ln w="635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2057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Within-date rank loss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2487168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with LambdaRank, query = start_year. The competition rewards cross-sectional rank, not absolute return level. Pointwise MSE spends capacity on impossible level effects.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2E3D7F"/>
          </a:solidFill>
          <a:ln w="6350">
            <a:solidFill>
              <a:srgbClr val="F2A5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74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194560" y="34747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 with archetype-shrunk mean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3904488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 and shrunk-mean err in opposite directions (LGB worse on novel tickers, shrunk mean worse on overlap). Averaging usually helps both fronts.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2E3D7F"/>
          </a:solidFill>
          <a:ln w="6350">
            <a:solidFill>
              <a:srgbClr val="F2A5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92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19456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Per-archetype models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94560" y="5321808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α per cluster — biotech needs α≈200, leveraged-mature can use MSE. One global loss wastes 78% of the error budget on three sub-populations.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 to beat: 64.71 RMSE on the 2022 fold · 65.65 on novel tickers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Aachen Investment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1-Year US Stock Returns from Fundamentals</dc:title>
  <dc:subject>PptxGenJS Presentation</dc:subject>
  <dc:creator>PptxGenJS</dc:creator>
  <cp:lastModifiedBy>PptxGenJS</cp:lastModifiedBy>
  <cp:revision>1</cp:revision>
  <dcterms:created xsi:type="dcterms:W3CDTF">2026-06-14T14:25:31Z</dcterms:created>
  <dcterms:modified xsi:type="dcterms:W3CDTF">2026-06-14T14:25:31Z</dcterms:modified>
</cp:coreProperties>
</file>